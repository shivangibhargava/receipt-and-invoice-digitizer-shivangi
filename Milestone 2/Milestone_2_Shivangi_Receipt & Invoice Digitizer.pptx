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slide" Target="slides/slide20.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ad1d52bc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ad1d52bc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bad1d52bc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bad1d52bc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ad1d52bc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ad1d52bc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ad1d52bce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bad1d52bce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bad1d52bc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bad1d52bce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bad1d52bc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bad1d52bc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ad1d52bc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ad1d52bc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bad1d52bce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bad1d52bce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ae965b2d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bae965b2d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ae965b2d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ae965b2d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ad1d52bc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ad1d52bce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ae965b2d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ae965b2d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a048f8f5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a048f8f5d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b311675c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b311675c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ba048f8f5d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ba048f8f5d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b311675c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b311675c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ba048f8f5d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ba048f8f5d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a048f8f5d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ba048f8f5d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ba048f8f5d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ba048f8f5d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E599"/>
        </a:solidFill>
      </p:bgPr>
    </p:bg>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Receipt &amp; </a:t>
            </a:r>
            <a:r>
              <a:rPr lang="en"/>
              <a:t>Invoice Digitizer</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Shivangi Bhargava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Problem Statement </a:t>
            </a:r>
            <a:r>
              <a:rPr lang="en"/>
              <a:t>Overview</a:t>
            </a:r>
            <a:endParaRPr/>
          </a:p>
        </p:txBody>
      </p:sp>
      <p:sp>
        <p:nvSpPr>
          <p:cNvPr id="135" name="Google Shape;135;p14"/>
          <p:cNvSpPr txBox="1"/>
          <p:nvPr>
            <p:ph idx="1" type="body"/>
          </p:nvPr>
        </p:nvSpPr>
        <p:spPr>
          <a:xfrm>
            <a:off x="777850" y="15366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Businesses and individuals handle numerous paper receipts and invoices, which are prone to loss, errors, and manual entry delays.</a:t>
            </a:r>
            <a:endParaRPr/>
          </a:p>
          <a:p>
            <a:pPr indent="0" lvl="0" marL="0" rtl="0" algn="l">
              <a:spcBef>
                <a:spcPts val="1200"/>
              </a:spcBef>
              <a:spcAft>
                <a:spcPts val="1200"/>
              </a:spcAft>
              <a:buNone/>
            </a:pPr>
            <a:r>
              <a:rPr lang="en"/>
              <a:t>We built a</a:t>
            </a:r>
            <a:r>
              <a:rPr lang="en"/>
              <a:t>utomated system for scanning, extracting and digitizing information from receipts and invoices using OCR.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Core Components </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Frontend: Uses Streamlit to create a web-based dashboard with tabs for uploading receipts and viewing analytics.</a:t>
            </a:r>
            <a:endParaRPr/>
          </a:p>
          <a:p>
            <a:pPr indent="0" lvl="0" marL="0" rtl="0" algn="l">
              <a:spcBef>
                <a:spcPts val="1200"/>
              </a:spcBef>
              <a:spcAft>
                <a:spcPts val="0"/>
              </a:spcAft>
              <a:buNone/>
            </a:pPr>
            <a:r>
              <a:rPr lang="en"/>
              <a:t>API: Leverages Google Gemini Flash, a fast AI model that reads images and extracts itemised details into JSON.</a:t>
            </a:r>
            <a:endParaRPr/>
          </a:p>
          <a:p>
            <a:pPr indent="0" lvl="0" marL="0" rtl="0" algn="l">
              <a:spcBef>
                <a:spcPts val="1200"/>
              </a:spcBef>
              <a:spcAft>
                <a:spcPts val="1200"/>
              </a:spcAft>
              <a:buNone/>
            </a:pPr>
            <a:r>
              <a:rPr lang="en"/>
              <a:t>Database: A SQLite database acts as a persistent vault, storing merchant names, dates, and costs indefinitely.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Database Structure</a:t>
            </a:r>
            <a:endParaRPr/>
          </a:p>
        </p:txBody>
      </p:sp>
      <p:sp>
        <p:nvSpPr>
          <p:cNvPr id="147" name="Google Shape;147;p16"/>
          <p:cNvSpPr txBox="1"/>
          <p:nvPr>
            <p:ph idx="1" type="body"/>
          </p:nvPr>
        </p:nvSpPr>
        <p:spPr>
          <a:xfrm>
            <a:off x="819150" y="14953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a:t>
            </a:r>
            <a:r>
              <a:rPr lang="en"/>
              <a:t>ses sqlite3 to create a table called receipts. </a:t>
            </a:r>
            <a:endParaRPr/>
          </a:p>
          <a:p>
            <a:pPr indent="0" lvl="0" marL="0" rtl="0" algn="l">
              <a:spcBef>
                <a:spcPts val="1200"/>
              </a:spcBef>
              <a:spcAft>
                <a:spcPts val="0"/>
              </a:spcAft>
              <a:buNone/>
            </a:pPr>
            <a:r>
              <a:rPr lang="en"/>
              <a:t>It stores: </a:t>
            </a:r>
            <a:endParaRPr/>
          </a:p>
          <a:p>
            <a:pPr indent="0" lvl="0" marL="0" rtl="0" algn="l">
              <a:spcBef>
                <a:spcPts val="1200"/>
              </a:spcBef>
              <a:spcAft>
                <a:spcPts val="0"/>
              </a:spcAft>
              <a:buNone/>
            </a:pPr>
            <a:r>
              <a:rPr lang="en"/>
              <a:t>▪Merchant Name &amp; Date of Purchase </a:t>
            </a:r>
            <a:endParaRPr/>
          </a:p>
          <a:p>
            <a:pPr indent="0" lvl="0" marL="0" rtl="0" algn="l">
              <a:spcBef>
                <a:spcPts val="1200"/>
              </a:spcBef>
              <a:spcAft>
                <a:spcPts val="0"/>
              </a:spcAft>
              <a:buNone/>
            </a:pPr>
            <a:r>
              <a:rPr lang="en"/>
              <a:t>▪Total Cost &amp; Currency Type </a:t>
            </a:r>
            <a:endParaRPr/>
          </a:p>
          <a:p>
            <a:pPr indent="0" lvl="0" marL="0" rtl="0" algn="l">
              <a:spcBef>
                <a:spcPts val="1200"/>
              </a:spcBef>
              <a:spcAft>
                <a:spcPts val="0"/>
              </a:spcAft>
              <a:buNone/>
            </a:pPr>
            <a:r>
              <a:rPr lang="en"/>
              <a:t>▪Raw JSON: A detailed list of every item bought. </a:t>
            </a:r>
            <a:endParaRPr/>
          </a:p>
          <a:p>
            <a:pPr indent="0" lvl="0" marL="0" rtl="0" algn="l">
              <a:spcBef>
                <a:spcPts val="1200"/>
              </a:spcBef>
              <a:spcAft>
                <a:spcPts val="1200"/>
              </a:spcAft>
              <a:buNone/>
            </a:pPr>
            <a:r>
              <a:rPr lang="en"/>
              <a:t>This allows the app to remember your spending even after you close the browser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Image Preprocessing</a:t>
            </a:r>
            <a:endParaRPr/>
          </a:p>
        </p:txBody>
      </p:sp>
      <p:sp>
        <p:nvSpPr>
          <p:cNvPr id="153" name="Google Shape;153;p17"/>
          <p:cNvSpPr txBox="1"/>
          <p:nvPr>
            <p:ph idx="1" type="body"/>
          </p:nvPr>
        </p:nvSpPr>
        <p:spPr>
          <a:xfrm>
            <a:off x="819150" y="16398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used following to "clean" the receipt: </a:t>
            </a:r>
            <a:endParaRPr/>
          </a:p>
          <a:p>
            <a:pPr indent="0" lvl="0" marL="0" rtl="0" algn="l">
              <a:spcBef>
                <a:spcPts val="1200"/>
              </a:spcBef>
              <a:spcAft>
                <a:spcPts val="0"/>
              </a:spcAft>
              <a:buNone/>
            </a:pPr>
            <a:r>
              <a:rPr lang="en"/>
              <a:t>Grayscale: Removes unnecessary colors. </a:t>
            </a:r>
            <a:endParaRPr/>
          </a:p>
          <a:p>
            <a:pPr indent="0" lvl="0" marL="0" rtl="0" algn="l">
              <a:spcBef>
                <a:spcPts val="1200"/>
              </a:spcBef>
              <a:spcAft>
                <a:spcPts val="0"/>
              </a:spcAft>
              <a:buNone/>
            </a:pPr>
            <a:r>
              <a:rPr lang="en"/>
              <a:t>Denoising: Clears graininess. </a:t>
            </a:r>
            <a:endParaRPr/>
          </a:p>
          <a:p>
            <a:pPr indent="0" lvl="0" marL="0" rtl="0" algn="l">
              <a:spcBef>
                <a:spcPts val="1200"/>
              </a:spcBef>
              <a:spcAft>
                <a:spcPts val="0"/>
              </a:spcAft>
              <a:buNone/>
            </a:pPr>
            <a:r>
              <a:rPr lang="en"/>
              <a:t>Thresholding: Makes text black and white. </a:t>
            </a:r>
            <a:endParaRPr/>
          </a:p>
          <a:p>
            <a:pPr indent="0" lvl="0" marL="0" rtl="0" algn="l">
              <a:spcBef>
                <a:spcPts val="1200"/>
              </a:spcBef>
              <a:spcAft>
                <a:spcPts val="1200"/>
              </a:spcAft>
              <a:buNone/>
            </a:pPr>
            <a:r>
              <a:rPr lang="en"/>
              <a:t>This results in much higher extraction success rates.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AI Extraction: Gemini API</a:t>
            </a:r>
            <a:endParaRPr/>
          </a:p>
        </p:txBody>
      </p:sp>
      <p:sp>
        <p:nvSpPr>
          <p:cNvPr id="159" name="Google Shape;159;p18"/>
          <p:cNvSpPr txBox="1"/>
          <p:nvPr>
            <p:ph idx="1" type="body"/>
          </p:nvPr>
        </p:nvSpPr>
        <p:spPr>
          <a:xfrm>
            <a:off x="819150" y="1619200"/>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core intelligence is the analyze_receipt() function. </a:t>
            </a:r>
            <a:endParaRPr/>
          </a:p>
          <a:p>
            <a:pPr indent="0" lvl="0" marL="0" rtl="0" algn="l">
              <a:spcBef>
                <a:spcPts val="1200"/>
              </a:spcBef>
              <a:spcAft>
                <a:spcPts val="0"/>
              </a:spcAft>
              <a:buNone/>
            </a:pPr>
            <a:r>
              <a:rPr lang="en"/>
              <a:t>It sends the cleaned image to Google's AI with a specific prompt. </a:t>
            </a:r>
            <a:endParaRPr/>
          </a:p>
          <a:p>
            <a:pPr indent="0" lvl="0" marL="0" rtl="0" algn="l">
              <a:spcBef>
                <a:spcPts val="1200"/>
              </a:spcBef>
              <a:spcAft>
                <a:spcPts val="0"/>
              </a:spcAft>
              <a:buNone/>
            </a:pPr>
            <a:r>
              <a:rPr lang="en"/>
              <a:t>The AI is instructed to "Extract receipt details into JSON." </a:t>
            </a:r>
            <a:endParaRPr/>
          </a:p>
          <a:p>
            <a:pPr indent="0" lvl="0" marL="0" rtl="0" algn="l">
              <a:spcBef>
                <a:spcPts val="1200"/>
              </a:spcBef>
              <a:spcAft>
                <a:spcPts val="1200"/>
              </a:spcAft>
              <a:buNone/>
            </a:pPr>
            <a:r>
              <a:rPr lang="en"/>
              <a:t>By specifying a format, we ensure the computer can read the AI's response without errors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Instructing the AI </a:t>
            </a:r>
            <a:endParaRPr/>
          </a:p>
        </p:txBody>
      </p:sp>
      <p:sp>
        <p:nvSpPr>
          <p:cNvPr id="165" name="Google Shape;165;p19"/>
          <p:cNvSpPr txBox="1"/>
          <p:nvPr>
            <p:ph idx="1" type="body"/>
          </p:nvPr>
        </p:nvSpPr>
        <p:spPr>
          <a:xfrm>
            <a:off x="819150" y="151597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use a structured text prompt to tell the AI exactly what we want. This prevents the AI from "chatting" and forces it to just give us the data. Strict Output: The prompt ends with "Return ONLY JSON.”</a:t>
            </a:r>
            <a:endParaRPr/>
          </a:p>
          <a:p>
            <a:pPr indent="0" lvl="0" marL="0" rtl="0" algn="l">
              <a:spcBef>
                <a:spcPts val="1200"/>
              </a:spcBef>
              <a:spcAft>
                <a:spcPts val="1200"/>
              </a:spcAft>
              <a:buNone/>
            </a:pPr>
            <a:r>
              <a:rPr lang="en"/>
              <a:t>JSON is like a digital checklist. It defines labels like "merchant" and "total". This makes it easy for our Python code to save the data directly into our SQLite database.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User Interface</a:t>
            </a:r>
            <a:endParaRPr/>
          </a:p>
        </p:txBody>
      </p:sp>
      <p:sp>
        <p:nvSpPr>
          <p:cNvPr id="171" name="Google Shape;171;p2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Multi-Format Upload: Supports JPG, PNG, and even multi-page PDFs. </a:t>
            </a:r>
            <a:endParaRPr/>
          </a:p>
          <a:p>
            <a:pPr indent="-311150" lvl="0" marL="457200" rtl="0" algn="l">
              <a:spcBef>
                <a:spcPts val="0"/>
              </a:spcBef>
              <a:spcAft>
                <a:spcPts val="0"/>
              </a:spcAft>
              <a:buSzPts val="1300"/>
              <a:buChar char="●"/>
            </a:pPr>
            <a:r>
              <a:rPr lang="en"/>
              <a:t>Side-by-Side View: Users see the original image vs the "cleaned" AI version. </a:t>
            </a:r>
            <a:endParaRPr/>
          </a:p>
          <a:p>
            <a:pPr indent="-311150" lvl="0" marL="457200" rtl="0" algn="l">
              <a:spcBef>
                <a:spcPts val="0"/>
              </a:spcBef>
              <a:spcAft>
                <a:spcPts val="0"/>
              </a:spcAft>
              <a:buSzPts val="1300"/>
              <a:buChar char="●"/>
            </a:pPr>
            <a:r>
              <a:rPr lang="en"/>
              <a:t>History Vault: A persistent table that lets users select a specific receipt to see its individual line items. </a:t>
            </a:r>
            <a:endParaRPr/>
          </a:p>
          <a:p>
            <a:pPr indent="-311150" lvl="0" marL="457200" rtl="0" algn="l">
              <a:spcBef>
                <a:spcPts val="0"/>
              </a:spcBef>
              <a:spcAft>
                <a:spcPts val="0"/>
              </a:spcAft>
              <a:buSzPts val="1300"/>
              <a:buChar char="●"/>
            </a:pPr>
            <a:r>
              <a:rPr lang="en"/>
              <a:t>Analytics dashboard: Includes filters, charts and graph.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type="title"/>
          </p:nvPr>
        </p:nvSpPr>
        <p:spPr>
          <a:xfrm>
            <a:off x="545500" y="32295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System Architecture Diagram</a:t>
            </a:r>
            <a:endParaRPr/>
          </a:p>
        </p:txBody>
      </p:sp>
      <p:sp>
        <p:nvSpPr>
          <p:cNvPr id="177" name="Google Shape;177;p21"/>
          <p:cNvSpPr txBox="1"/>
          <p:nvPr>
            <p:ph idx="1" type="body"/>
          </p:nvPr>
        </p:nvSpPr>
        <p:spPr>
          <a:xfrm>
            <a:off x="231575" y="15568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 </a:t>
            </a:r>
            <a:endParaRPr/>
          </a:p>
        </p:txBody>
      </p:sp>
      <p:pic>
        <p:nvPicPr>
          <p:cNvPr id="178" name="Google Shape;178;p21" title="Screenshot 2026-01-19 191334.png"/>
          <p:cNvPicPr preferRelativeResize="0"/>
          <p:nvPr/>
        </p:nvPicPr>
        <p:blipFill>
          <a:blip r:embed="rId3">
            <a:alphaModFix/>
          </a:blip>
          <a:stretch>
            <a:fillRect/>
          </a:stretch>
        </p:blipFill>
        <p:spPr>
          <a:xfrm>
            <a:off x="3526600" y="925900"/>
            <a:ext cx="2296675" cy="39162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502775" y="3213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Screenshots</a:t>
            </a:r>
            <a:endParaRPr/>
          </a:p>
        </p:txBody>
      </p:sp>
      <p:pic>
        <p:nvPicPr>
          <p:cNvPr id="184" name="Google Shape;184;p22"/>
          <p:cNvPicPr preferRelativeResize="0"/>
          <p:nvPr/>
        </p:nvPicPr>
        <p:blipFill>
          <a:blip r:embed="rId3">
            <a:alphaModFix/>
          </a:blip>
          <a:stretch>
            <a:fillRect/>
          </a:stretch>
        </p:blipFill>
        <p:spPr>
          <a:xfrm>
            <a:off x="502775" y="907425"/>
            <a:ext cx="7056098" cy="39728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571825" y="239950"/>
            <a:ext cx="71925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Screenshots</a:t>
            </a:r>
            <a:endParaRPr/>
          </a:p>
        </p:txBody>
      </p:sp>
      <p:pic>
        <p:nvPicPr>
          <p:cNvPr id="190" name="Google Shape;190;p23"/>
          <p:cNvPicPr preferRelativeResize="0"/>
          <p:nvPr/>
        </p:nvPicPr>
        <p:blipFill>
          <a:blip r:embed="rId3">
            <a:alphaModFix/>
          </a:blip>
          <a:stretch>
            <a:fillRect/>
          </a:stretch>
        </p:blipFill>
        <p:spPr>
          <a:xfrm>
            <a:off x="571825" y="889499"/>
            <a:ext cx="7595901" cy="3885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Implemented Modules </a:t>
            </a:r>
            <a:endParaRPr/>
          </a:p>
        </p:txBody>
      </p:sp>
      <p:sp>
        <p:nvSpPr>
          <p:cNvPr id="196" name="Google Shape;196;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Milestone 1: </a:t>
            </a:r>
            <a:endParaRPr/>
          </a:p>
          <a:p>
            <a:pPr indent="-311150" lvl="0" marL="457200" rtl="0" algn="l">
              <a:spcBef>
                <a:spcPts val="1200"/>
              </a:spcBef>
              <a:spcAft>
                <a:spcPts val="0"/>
              </a:spcAft>
              <a:buSzPts val="1300"/>
              <a:buChar char="●"/>
            </a:pPr>
            <a:r>
              <a:rPr lang="en"/>
              <a:t>Document Ingestion &amp; OCR </a:t>
            </a:r>
            <a:endParaRPr/>
          </a:p>
          <a:p>
            <a:pPr indent="-311150" lvl="0" marL="457200" rtl="0" algn="l">
              <a:spcBef>
                <a:spcPts val="0"/>
              </a:spcBef>
              <a:spcAft>
                <a:spcPts val="0"/>
              </a:spcAft>
              <a:buSzPts val="1300"/>
              <a:buChar char="●"/>
            </a:pPr>
            <a:r>
              <a:rPr lang="en"/>
              <a:t>Implement file upload. </a:t>
            </a:r>
            <a:endParaRPr/>
          </a:p>
          <a:p>
            <a:pPr indent="-311150" lvl="0" marL="457200" rtl="0" algn="l">
              <a:spcBef>
                <a:spcPts val="0"/>
              </a:spcBef>
              <a:spcAft>
                <a:spcPts val="0"/>
              </a:spcAft>
              <a:buSzPts val="1300"/>
              <a:buChar char="●"/>
            </a:pPr>
            <a:r>
              <a:rPr lang="en"/>
              <a:t>Preprocess images for OCR. </a:t>
            </a:r>
            <a:endParaRPr/>
          </a:p>
          <a:p>
            <a:pPr indent="-311150" lvl="0" marL="457200" rtl="0" algn="l">
              <a:spcBef>
                <a:spcPts val="0"/>
              </a:spcBef>
              <a:spcAft>
                <a:spcPts val="0"/>
              </a:spcAft>
              <a:buSzPts val="1300"/>
              <a:buChar char="●"/>
            </a:pPr>
            <a:r>
              <a:rPr lang="en"/>
              <a:t>Extract raw text from sample receipts.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Milestone 2 -</a:t>
            </a:r>
            <a:r>
              <a:rPr lang="en"/>
              <a:t> Implemented Modules</a:t>
            </a:r>
            <a:endParaRPr/>
          </a:p>
        </p:txBody>
      </p:sp>
      <p:sp>
        <p:nvSpPr>
          <p:cNvPr id="202" name="Google Shape;202;p25"/>
          <p:cNvSpPr txBox="1"/>
          <p:nvPr>
            <p:ph idx="1" type="body"/>
          </p:nvPr>
        </p:nvSpPr>
        <p:spPr>
          <a:xfrm>
            <a:off x="819150" y="159297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600"/>
          </a:p>
          <a:p>
            <a:pPr indent="0" lvl="0" marL="0" rtl="0" algn="l">
              <a:spcBef>
                <a:spcPts val="1200"/>
              </a:spcBef>
              <a:spcAft>
                <a:spcPts val="0"/>
              </a:spcAft>
              <a:buNone/>
            </a:pPr>
            <a:r>
              <a:rPr lang="en" sz="1600"/>
              <a:t>• Apply regex + NLP to parse key fields. </a:t>
            </a:r>
            <a:endParaRPr sz="1600"/>
          </a:p>
          <a:p>
            <a:pPr indent="0" lvl="0" marL="0" rtl="0" algn="l">
              <a:spcBef>
                <a:spcPts val="1200"/>
              </a:spcBef>
              <a:spcAft>
                <a:spcPts val="0"/>
              </a:spcAft>
              <a:buNone/>
            </a:pPr>
            <a:r>
              <a:rPr lang="en" sz="1600"/>
              <a:t>• Validate totals and detect duplicates. </a:t>
            </a:r>
            <a:endParaRPr sz="1600"/>
          </a:p>
          <a:p>
            <a:pPr indent="0" lvl="0" marL="0" rtl="0" algn="l">
              <a:spcBef>
                <a:spcPts val="1200"/>
              </a:spcBef>
              <a:spcAft>
                <a:spcPts val="0"/>
              </a:spcAft>
              <a:buNone/>
            </a:pPr>
            <a:r>
              <a:rPr lang="en" sz="1600"/>
              <a:t>• Store structured results in DB.  </a:t>
            </a:r>
            <a:endParaRPr sz="1600"/>
          </a:p>
          <a:p>
            <a:pPr indent="0" lvl="0" marL="0" rtl="0" algn="l">
              <a:spcBef>
                <a:spcPts val="1200"/>
              </a:spcBef>
              <a:spcAft>
                <a:spcPts val="1200"/>
              </a:spcAft>
              <a:buNone/>
            </a:pPr>
            <a:r>
              <a:t/>
            </a:r>
            <a:endParaRPr sz="1600"/>
          </a:p>
        </p:txBody>
      </p:sp>
      <p:pic>
        <p:nvPicPr>
          <p:cNvPr id="203" name="Google Shape;203;p25"/>
          <p:cNvPicPr preferRelativeResize="0"/>
          <p:nvPr/>
        </p:nvPicPr>
        <p:blipFill>
          <a:blip r:embed="rId3">
            <a:alphaModFix/>
          </a:blip>
          <a:stretch>
            <a:fillRect/>
          </a:stretch>
        </p:blipFill>
        <p:spPr>
          <a:xfrm>
            <a:off x="4729500" y="1800199"/>
            <a:ext cx="3637476" cy="2273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Field Extraction &amp; Validation</a:t>
            </a:r>
            <a:endParaRPr/>
          </a:p>
        </p:txBody>
      </p:sp>
      <p:sp>
        <p:nvSpPr>
          <p:cNvPr id="209" name="Google Shape;209;p26"/>
          <p:cNvSpPr txBox="1"/>
          <p:nvPr>
            <p:ph idx="1" type="body"/>
          </p:nvPr>
        </p:nvSpPr>
        <p:spPr>
          <a:xfrm>
            <a:off x="3917550" y="1800200"/>
            <a:ext cx="4407300" cy="196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NLP/Regex-based extraction for date, vendor, invoice ID, tax, total amount, line items. </a:t>
            </a:r>
            <a:endParaRPr/>
          </a:p>
          <a:p>
            <a:pPr indent="0" lvl="0" marL="0" rtl="0" algn="l">
              <a:spcBef>
                <a:spcPts val="1200"/>
              </a:spcBef>
              <a:spcAft>
                <a:spcPts val="0"/>
              </a:spcAft>
              <a:buNone/>
            </a:pPr>
            <a:r>
              <a:rPr lang="en"/>
              <a:t>• Validate extracted totals (subtotal + tax = total). </a:t>
            </a:r>
            <a:endParaRPr/>
          </a:p>
          <a:p>
            <a:pPr indent="0" lvl="0" marL="0" rtl="0" algn="l">
              <a:spcBef>
                <a:spcPts val="1200"/>
              </a:spcBef>
              <a:spcAft>
                <a:spcPts val="1200"/>
              </a:spcAft>
              <a:buNone/>
            </a:pPr>
            <a:r>
              <a:rPr lang="en"/>
              <a:t>• Detect duplicates via invoice number or hash. </a:t>
            </a:r>
            <a:endParaRPr/>
          </a:p>
        </p:txBody>
      </p:sp>
      <p:pic>
        <p:nvPicPr>
          <p:cNvPr id="210" name="Google Shape;210;p26"/>
          <p:cNvPicPr preferRelativeResize="0"/>
          <p:nvPr/>
        </p:nvPicPr>
        <p:blipFill>
          <a:blip r:embed="rId3">
            <a:alphaModFix/>
          </a:blip>
          <a:stretch>
            <a:fillRect/>
          </a:stretch>
        </p:blipFill>
        <p:spPr>
          <a:xfrm>
            <a:off x="699200" y="1979075"/>
            <a:ext cx="3028950" cy="1514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7"/>
          <p:cNvSpPr txBox="1"/>
          <p:nvPr>
            <p:ph idx="1" type="body"/>
          </p:nvPr>
        </p:nvSpPr>
        <p:spPr>
          <a:xfrm>
            <a:off x="403325" y="1178750"/>
            <a:ext cx="8104800" cy="332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F1F"/>
                </a:solidFill>
                <a:highlight>
                  <a:srgbClr val="FFFFFF"/>
                </a:highlight>
              </a:rPr>
              <a:t>Incorporated following modules or </a:t>
            </a:r>
            <a:r>
              <a:rPr lang="en">
                <a:solidFill>
                  <a:srgbClr val="1F1F1F"/>
                </a:solidFill>
                <a:highlight>
                  <a:srgbClr val="FFFFFF"/>
                </a:highlight>
              </a:rPr>
              <a:t>features</a:t>
            </a:r>
            <a:r>
              <a:rPr lang="en">
                <a:solidFill>
                  <a:srgbClr val="1F1F1F"/>
                </a:solidFill>
                <a:highlight>
                  <a:srgbClr val="FFFFFF"/>
                </a:highlight>
              </a:rPr>
              <a:t> into the code :</a:t>
            </a:r>
            <a:endParaRPr>
              <a:solidFill>
                <a:srgbClr val="1F1F1F"/>
              </a:solidFill>
              <a:highlight>
                <a:srgbClr val="FFFFFF"/>
              </a:highlight>
            </a:endParaRPr>
          </a:p>
          <a:p>
            <a:pPr indent="0" lvl="0" marL="0" rtl="0" algn="l">
              <a:spcBef>
                <a:spcPts val="0"/>
              </a:spcBef>
              <a:spcAft>
                <a:spcPts val="0"/>
              </a:spcAft>
              <a:buNone/>
            </a:pPr>
            <a:r>
              <a:t/>
            </a:r>
            <a:endParaRPr>
              <a:solidFill>
                <a:srgbClr val="1F1F1F"/>
              </a:solidFill>
              <a:highlight>
                <a:srgbClr val="FFFFFF"/>
              </a:highlight>
            </a:endParaRPr>
          </a:p>
          <a:p>
            <a:pPr indent="-311150" lvl="0" marL="457200" rtl="0" algn="l">
              <a:spcBef>
                <a:spcPts val="0"/>
              </a:spcBef>
              <a:spcAft>
                <a:spcPts val="0"/>
              </a:spcAft>
              <a:buClr>
                <a:srgbClr val="1F1F1F"/>
              </a:buClr>
              <a:buSzPts val="1300"/>
              <a:buFont typeface="Arial"/>
              <a:buChar char="●"/>
            </a:pPr>
            <a:r>
              <a:rPr b="1" lang="en">
                <a:solidFill>
                  <a:srgbClr val="1F1F1F"/>
                </a:solidFill>
                <a:highlight>
                  <a:srgbClr val="FFFFFF"/>
                </a:highlight>
              </a:rPr>
              <a:t>NLP/Regex-based Extraction</a:t>
            </a:r>
            <a:r>
              <a:rPr lang="en">
                <a:solidFill>
                  <a:srgbClr val="1F1F1F"/>
                </a:solidFill>
                <a:highlight>
                  <a:srgbClr val="FFFFFF"/>
                </a:highlight>
              </a:rPr>
              <a:t>: The analyze_receipt function uses the Gemini model, which is an NLP-based model, to extract 'merchant', 'date', 'total', 'currency', 'invoice_id', 'tax', and 'items' from the receipt image. The prompt is designed for the structured JSON extraction.</a:t>
            </a:r>
            <a:endParaRPr>
              <a:solidFill>
                <a:srgbClr val="1F1F1F"/>
              </a:solidFill>
              <a:highlight>
                <a:srgbClr val="FFFFFF"/>
              </a:highlight>
            </a:endParaRPr>
          </a:p>
          <a:p>
            <a:pPr indent="0" lvl="0" marL="457200" rtl="0" algn="l">
              <a:spcBef>
                <a:spcPts val="0"/>
              </a:spcBef>
              <a:spcAft>
                <a:spcPts val="0"/>
              </a:spcAft>
              <a:buNone/>
            </a:pPr>
            <a:r>
              <a:t/>
            </a:r>
            <a:endParaRPr>
              <a:solidFill>
                <a:srgbClr val="1F1F1F"/>
              </a:solidFill>
              <a:highlight>
                <a:srgbClr val="FFFFFF"/>
              </a:highlight>
            </a:endParaRPr>
          </a:p>
          <a:p>
            <a:pPr indent="-311150" lvl="0" marL="457200" rtl="0" algn="l">
              <a:spcBef>
                <a:spcPts val="0"/>
              </a:spcBef>
              <a:spcAft>
                <a:spcPts val="0"/>
              </a:spcAft>
              <a:buClr>
                <a:srgbClr val="1F1F1F"/>
              </a:buClr>
              <a:buSzPts val="1300"/>
              <a:buFont typeface="Arial"/>
              <a:buChar char="●"/>
            </a:pPr>
            <a:r>
              <a:rPr b="1" lang="en">
                <a:solidFill>
                  <a:srgbClr val="1F1F1F"/>
                </a:solidFill>
                <a:highlight>
                  <a:srgbClr val="FFFFFF"/>
                </a:highlight>
              </a:rPr>
              <a:t>Validate Extracted Totals</a:t>
            </a:r>
            <a:r>
              <a:rPr lang="en">
                <a:solidFill>
                  <a:srgbClr val="1F1F1F"/>
                </a:solidFill>
                <a:highlight>
                  <a:srgbClr val="FFFFFF"/>
                </a:highlight>
              </a:rPr>
              <a:t>: The validate_extracted_total function is implemented and used within the 'Validation' tab to check if the calculated subtotal plus extracted tax approximately equals the extracted total. This provides a crucial validation layer.</a:t>
            </a:r>
            <a:endParaRPr>
              <a:solidFill>
                <a:srgbClr val="1F1F1F"/>
              </a:solidFill>
              <a:highlight>
                <a:srgbClr val="FFFFFF"/>
              </a:highlight>
            </a:endParaRPr>
          </a:p>
          <a:p>
            <a:pPr indent="0" lvl="0" marL="457200" rtl="0" algn="l">
              <a:spcBef>
                <a:spcPts val="0"/>
              </a:spcBef>
              <a:spcAft>
                <a:spcPts val="0"/>
              </a:spcAft>
              <a:buNone/>
            </a:pPr>
            <a:r>
              <a:t/>
            </a:r>
            <a:endParaRPr>
              <a:solidFill>
                <a:srgbClr val="1F1F1F"/>
              </a:solidFill>
              <a:highlight>
                <a:srgbClr val="FFFFFF"/>
              </a:highlight>
            </a:endParaRPr>
          </a:p>
          <a:p>
            <a:pPr indent="-311150" lvl="0" marL="457200" rtl="0" algn="l">
              <a:spcBef>
                <a:spcPts val="0"/>
              </a:spcBef>
              <a:spcAft>
                <a:spcPts val="0"/>
              </a:spcAft>
              <a:buClr>
                <a:srgbClr val="1F1F1F"/>
              </a:buClr>
              <a:buSzPts val="1300"/>
              <a:buFont typeface="Arial"/>
              <a:buChar char="●"/>
            </a:pPr>
            <a:r>
              <a:rPr b="1" lang="en">
                <a:solidFill>
                  <a:srgbClr val="1F1F1F"/>
                </a:solidFill>
                <a:highlight>
                  <a:srgbClr val="FFFFFF"/>
                </a:highlight>
              </a:rPr>
              <a:t>Duplicate Detection</a:t>
            </a:r>
            <a:r>
              <a:rPr lang="en">
                <a:solidFill>
                  <a:srgbClr val="1F1F1F"/>
                </a:solidFill>
                <a:highlight>
                  <a:srgbClr val="FFFFFF"/>
                </a:highlight>
              </a:rPr>
              <a:t>: Duplicate detection is handled in the save_to_db function using a SHA-256 file_hash of the image. Additionally, there's a fallback duplicate check based on 'merchant', 'date', 'total', and 'invoice_id'. The 'Validation' tab also displays the duplicate status for selected receipts.</a:t>
            </a:r>
            <a:endParaRPr/>
          </a:p>
        </p:txBody>
      </p:sp>
      <p:sp>
        <p:nvSpPr>
          <p:cNvPr id="216" name="Google Shape;216;p27"/>
          <p:cNvSpPr txBox="1"/>
          <p:nvPr>
            <p:ph type="title"/>
          </p:nvPr>
        </p:nvSpPr>
        <p:spPr>
          <a:xfrm>
            <a:off x="403325" y="420725"/>
            <a:ext cx="7505700" cy="75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Field Extraction &amp; Validation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8"/>
          <p:cNvSpPr txBox="1"/>
          <p:nvPr>
            <p:ph type="title"/>
          </p:nvPr>
        </p:nvSpPr>
        <p:spPr>
          <a:xfrm>
            <a:off x="484025" y="859025"/>
            <a:ext cx="7505700" cy="694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Database Storage</a:t>
            </a:r>
            <a:endParaRPr/>
          </a:p>
        </p:txBody>
      </p:sp>
      <p:sp>
        <p:nvSpPr>
          <p:cNvPr id="222" name="Google Shape;222;p28"/>
          <p:cNvSpPr txBox="1"/>
          <p:nvPr>
            <p:ph idx="1" type="body"/>
          </p:nvPr>
        </p:nvSpPr>
        <p:spPr>
          <a:xfrm>
            <a:off x="484025" y="1937800"/>
            <a:ext cx="4227300" cy="1408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Store structured invoice/receipt data in SQL database. </a:t>
            </a:r>
            <a:endParaRPr/>
          </a:p>
          <a:p>
            <a:pPr indent="0" lvl="0" marL="0" rtl="0" algn="l">
              <a:spcBef>
                <a:spcPts val="1200"/>
              </a:spcBef>
              <a:spcAft>
                <a:spcPts val="0"/>
              </a:spcAft>
              <a:buNone/>
            </a:pPr>
            <a:r>
              <a:rPr lang="en"/>
              <a:t>• Support search by vendor, date, or amount. </a:t>
            </a:r>
            <a:endParaRPr/>
          </a:p>
          <a:p>
            <a:pPr indent="0" lvl="0" marL="0" rtl="0" algn="l">
              <a:spcBef>
                <a:spcPts val="1200"/>
              </a:spcBef>
              <a:spcAft>
                <a:spcPts val="1200"/>
              </a:spcAft>
              <a:buNone/>
            </a:pPr>
            <a:r>
              <a:t/>
            </a:r>
            <a:endParaRPr/>
          </a:p>
        </p:txBody>
      </p:sp>
      <p:pic>
        <p:nvPicPr>
          <p:cNvPr id="223" name="Google Shape;223;p28"/>
          <p:cNvPicPr preferRelativeResize="0"/>
          <p:nvPr/>
        </p:nvPicPr>
        <p:blipFill>
          <a:blip r:embed="rId3">
            <a:alphaModFix/>
          </a:blip>
          <a:stretch>
            <a:fillRect/>
          </a:stretch>
        </p:blipFill>
        <p:spPr>
          <a:xfrm>
            <a:off x="4784325" y="1505038"/>
            <a:ext cx="3792750" cy="213342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body"/>
          </p:nvPr>
        </p:nvSpPr>
        <p:spPr>
          <a:xfrm>
            <a:off x="403325" y="1468025"/>
            <a:ext cx="7921500" cy="297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solidFill>
                <a:srgbClr val="1F1F1F"/>
              </a:solidFill>
              <a:highlight>
                <a:srgbClr val="FFFFFF"/>
              </a:highlight>
            </a:endParaRPr>
          </a:p>
          <a:p>
            <a:pPr indent="-311150" lvl="0" marL="457200" rtl="0" algn="l">
              <a:spcBef>
                <a:spcPts val="0"/>
              </a:spcBef>
              <a:spcAft>
                <a:spcPts val="0"/>
              </a:spcAft>
              <a:buClr>
                <a:srgbClr val="1F1F1F"/>
              </a:buClr>
              <a:buSzPts val="1300"/>
              <a:buFont typeface="Arial"/>
              <a:buChar char="●"/>
            </a:pPr>
            <a:r>
              <a:rPr b="1" lang="en">
                <a:solidFill>
                  <a:srgbClr val="1F1F1F"/>
                </a:solidFill>
                <a:highlight>
                  <a:srgbClr val="FFFFFF"/>
                </a:highlight>
              </a:rPr>
              <a:t>Store Structured Data in SQL Database</a:t>
            </a:r>
            <a:r>
              <a:rPr lang="en">
                <a:solidFill>
                  <a:srgbClr val="1F1F1F"/>
                </a:solidFill>
                <a:highlight>
                  <a:srgbClr val="FFFFFF"/>
                </a:highlight>
              </a:rPr>
              <a:t>: The init_db function sets up an SQLite database, and save_to_db is responsible for storing the extracted and structured receipt data (including merchant, date, total, currency, invoice_id, tax, raw_json, file_hash, and timestamp) into the receipts table.</a:t>
            </a:r>
            <a:endParaRPr>
              <a:solidFill>
                <a:srgbClr val="1F1F1F"/>
              </a:solidFill>
              <a:highlight>
                <a:srgbClr val="FFFFFF"/>
              </a:highlight>
            </a:endParaRPr>
          </a:p>
          <a:p>
            <a:pPr indent="0" lvl="0" marL="457200" rtl="0" algn="l">
              <a:spcBef>
                <a:spcPts val="0"/>
              </a:spcBef>
              <a:spcAft>
                <a:spcPts val="0"/>
              </a:spcAft>
              <a:buNone/>
            </a:pPr>
            <a:r>
              <a:t/>
            </a:r>
            <a:endParaRPr>
              <a:solidFill>
                <a:srgbClr val="1F1F1F"/>
              </a:solidFill>
              <a:highlight>
                <a:srgbClr val="FFFFFF"/>
              </a:highlight>
            </a:endParaRPr>
          </a:p>
          <a:p>
            <a:pPr indent="-311150" lvl="0" marL="457200" rtl="0" algn="l">
              <a:spcBef>
                <a:spcPts val="0"/>
              </a:spcBef>
              <a:spcAft>
                <a:spcPts val="0"/>
              </a:spcAft>
              <a:buClr>
                <a:srgbClr val="1F1F1F"/>
              </a:buClr>
              <a:buSzPts val="1300"/>
              <a:buFont typeface="Arial"/>
              <a:buChar char="●"/>
            </a:pPr>
            <a:r>
              <a:rPr b="1" lang="en">
                <a:solidFill>
                  <a:srgbClr val="1F1F1F"/>
                </a:solidFill>
                <a:highlight>
                  <a:srgbClr val="FFFFFF"/>
                </a:highlight>
              </a:rPr>
              <a:t>Support Search by Vendor, Date, or Amount</a:t>
            </a:r>
            <a:r>
              <a:rPr lang="en">
                <a:solidFill>
                  <a:srgbClr val="1F1F1F"/>
                </a:solidFill>
                <a:highlight>
                  <a:srgbClr val="FFFFFF"/>
                </a:highlight>
              </a:rPr>
              <a:t>: The 'Analytics Dashboard' tab includes interactive filters that allow users to search and filter receipts by 'Date' range, 'Vendor' (Merchant), and 'Total Amount'. This provides search functionality which makes analytics visually appealing and dynamic.</a:t>
            </a:r>
            <a:endParaRPr>
              <a:solidFill>
                <a:srgbClr val="1F1F1F"/>
              </a:solidFill>
              <a:highlight>
                <a:srgbClr val="FFFFFF"/>
              </a:highlight>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sp>
        <p:nvSpPr>
          <p:cNvPr id="229" name="Google Shape;229;p29"/>
          <p:cNvSpPr txBox="1"/>
          <p:nvPr>
            <p:ph type="title"/>
          </p:nvPr>
        </p:nvSpPr>
        <p:spPr>
          <a:xfrm>
            <a:off x="699725" y="764275"/>
            <a:ext cx="7328700" cy="758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Database Storage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819150" y="5641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Screenshot : Tab 1</a:t>
            </a:r>
            <a:endParaRPr/>
          </a:p>
        </p:txBody>
      </p:sp>
      <p:pic>
        <p:nvPicPr>
          <p:cNvPr id="235" name="Google Shape;235;p30"/>
          <p:cNvPicPr preferRelativeResize="0"/>
          <p:nvPr/>
        </p:nvPicPr>
        <p:blipFill rotWithShape="1">
          <a:blip r:embed="rId3">
            <a:alphaModFix/>
          </a:blip>
          <a:srcRect b="0" l="0" r="33038" t="0"/>
          <a:stretch/>
        </p:blipFill>
        <p:spPr>
          <a:xfrm>
            <a:off x="5808111" y="1348375"/>
            <a:ext cx="3022965" cy="2768224"/>
          </a:xfrm>
          <a:prstGeom prst="rect">
            <a:avLst/>
          </a:prstGeom>
          <a:noFill/>
          <a:ln>
            <a:noFill/>
          </a:ln>
        </p:spPr>
      </p:pic>
      <p:pic>
        <p:nvPicPr>
          <p:cNvPr id="236" name="Google Shape;236;p30"/>
          <p:cNvPicPr preferRelativeResize="0"/>
          <p:nvPr/>
        </p:nvPicPr>
        <p:blipFill>
          <a:blip r:embed="rId4">
            <a:alphaModFix/>
          </a:blip>
          <a:stretch>
            <a:fillRect/>
          </a:stretch>
        </p:blipFill>
        <p:spPr>
          <a:xfrm>
            <a:off x="402100" y="1305325"/>
            <a:ext cx="5234975" cy="281127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882425" y="4915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Screenshot : Tab 2</a:t>
            </a:r>
            <a:endParaRPr/>
          </a:p>
        </p:txBody>
      </p:sp>
      <p:pic>
        <p:nvPicPr>
          <p:cNvPr id="242" name="Google Shape;242;p31"/>
          <p:cNvPicPr preferRelativeResize="0"/>
          <p:nvPr/>
        </p:nvPicPr>
        <p:blipFill>
          <a:blip r:embed="rId3">
            <a:alphaModFix/>
          </a:blip>
          <a:stretch>
            <a:fillRect/>
          </a:stretch>
        </p:blipFill>
        <p:spPr>
          <a:xfrm>
            <a:off x="1462400" y="1373850"/>
            <a:ext cx="6219201" cy="33463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819150" y="4388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Screenshot : Tab 3</a:t>
            </a:r>
            <a:endParaRPr/>
          </a:p>
        </p:txBody>
      </p:sp>
      <p:pic>
        <p:nvPicPr>
          <p:cNvPr id="248" name="Google Shape;248;p32"/>
          <p:cNvPicPr preferRelativeResize="0"/>
          <p:nvPr/>
        </p:nvPicPr>
        <p:blipFill>
          <a:blip r:embed="rId3">
            <a:alphaModFix/>
          </a:blip>
          <a:stretch>
            <a:fillRect/>
          </a:stretch>
        </p:blipFill>
        <p:spPr>
          <a:xfrm>
            <a:off x="819150" y="1075354"/>
            <a:ext cx="7505702" cy="370782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